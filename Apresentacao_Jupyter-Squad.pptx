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8" roundtripDataSignature="AMtx7mibzRBKll5AQs/y6jDndraxMLe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 a distribuição dos pedidos por estado?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 é a distribuição dos score dos reviews?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Quais os 5 maiores vendedores?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 é a forma de pagamento mais utilizada?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maior parte dos pagamentos são feitos à vista ou de forma parcelada?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Quantos métodos de pagamentos em média são escolhidos pelos clientes em um determinado pedido?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1.png"/><Relationship Id="rId22" Type="http://schemas.openxmlformats.org/officeDocument/2006/relationships/image" Target="../media/image6.png"/><Relationship Id="rId10" Type="http://schemas.openxmlformats.org/officeDocument/2006/relationships/image" Target="../media/image8.png"/><Relationship Id="rId21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9.png"/><Relationship Id="rId15" Type="http://schemas.openxmlformats.org/officeDocument/2006/relationships/image" Target="../media/image15.png"/><Relationship Id="rId14" Type="http://schemas.openxmlformats.org/officeDocument/2006/relationships/image" Target="../media/image27.png"/><Relationship Id="rId17" Type="http://schemas.openxmlformats.org/officeDocument/2006/relationships/image" Target="../media/image18.png"/><Relationship Id="rId16" Type="http://schemas.openxmlformats.org/officeDocument/2006/relationships/image" Target="../media/image16.png"/><Relationship Id="rId5" Type="http://schemas.openxmlformats.org/officeDocument/2006/relationships/image" Target="../media/image7.png"/><Relationship Id="rId19" Type="http://schemas.openxmlformats.org/officeDocument/2006/relationships/image" Target="../media/image32.jpg"/><Relationship Id="rId6" Type="http://schemas.openxmlformats.org/officeDocument/2006/relationships/image" Target="../media/image25.png"/><Relationship Id="rId18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.png"/><Relationship Id="rId11" Type="http://schemas.openxmlformats.org/officeDocument/2006/relationships/image" Target="../media/image33.png"/><Relationship Id="rId10" Type="http://schemas.openxmlformats.org/officeDocument/2006/relationships/image" Target="../media/image21.png"/><Relationship Id="rId21" Type="http://schemas.openxmlformats.org/officeDocument/2006/relationships/image" Target="../media/image6.png"/><Relationship Id="rId13" Type="http://schemas.openxmlformats.org/officeDocument/2006/relationships/image" Target="../media/image2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34.png"/><Relationship Id="rId15" Type="http://schemas.openxmlformats.org/officeDocument/2006/relationships/image" Target="../media/image31.jpg"/><Relationship Id="rId14" Type="http://schemas.openxmlformats.org/officeDocument/2006/relationships/image" Target="../media/image30.png"/><Relationship Id="rId17" Type="http://schemas.openxmlformats.org/officeDocument/2006/relationships/image" Target="../media/image37.jpg"/><Relationship Id="rId16" Type="http://schemas.openxmlformats.org/officeDocument/2006/relationships/image" Target="../media/image40.jpg"/><Relationship Id="rId5" Type="http://schemas.openxmlformats.org/officeDocument/2006/relationships/image" Target="../media/image7.png"/><Relationship Id="rId19" Type="http://schemas.openxmlformats.org/officeDocument/2006/relationships/image" Target="../media/image41.png"/><Relationship Id="rId6" Type="http://schemas.openxmlformats.org/officeDocument/2006/relationships/image" Target="../media/image22.png"/><Relationship Id="rId18" Type="http://schemas.openxmlformats.org/officeDocument/2006/relationships/image" Target="../media/image39.jpg"/><Relationship Id="rId7" Type="http://schemas.openxmlformats.org/officeDocument/2006/relationships/image" Target="../media/image35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45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38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42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4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43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875" y="4487263"/>
            <a:ext cx="2857500" cy="37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"/>
          <p:cNvGrpSpPr/>
          <p:nvPr/>
        </p:nvGrpSpPr>
        <p:grpSpPr>
          <a:xfrm>
            <a:off x="1699020" y="1385375"/>
            <a:ext cx="5745967" cy="2372775"/>
            <a:chOff x="649783" y="801137"/>
            <a:chExt cx="5745967" cy="2372775"/>
          </a:xfrm>
        </p:grpSpPr>
        <p:pic>
          <p:nvPicPr>
            <p:cNvPr id="57" name="Google Shape;57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"/>
            <p:cNvSpPr txBox="1"/>
            <p:nvPr/>
          </p:nvSpPr>
          <p:spPr>
            <a:xfrm>
              <a:off x="3076250" y="810025"/>
              <a:ext cx="3319500" cy="235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00"/>
                <a:buFont typeface="Arial"/>
                <a:buNone/>
              </a:pPr>
              <a:r>
                <a:rPr b="1" i="0" lang="pt-BR" sz="47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</a:t>
              </a:r>
              <a:endParaRPr b="1" i="0" sz="47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00"/>
                <a:buFont typeface="Arial"/>
                <a:buNone/>
              </a:pPr>
              <a:r>
                <a:rPr b="1" i="0" lang="pt-BR" sz="47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Ciência</a:t>
              </a:r>
              <a:endParaRPr b="1" i="0" sz="47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00"/>
                <a:buFont typeface="Arial"/>
                <a:buNone/>
              </a:pPr>
              <a:r>
                <a:rPr b="1" i="0" lang="pt-BR" sz="47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Dos Dados</a:t>
              </a:r>
              <a:endParaRPr b="1" i="0" sz="47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1"/>
          <p:cNvGrpSpPr/>
          <p:nvPr/>
        </p:nvGrpSpPr>
        <p:grpSpPr>
          <a:xfrm>
            <a:off x="7398210" y="272511"/>
            <a:ext cx="1422819" cy="1749857"/>
            <a:chOff x="7517385" y="172886"/>
            <a:chExt cx="1422819" cy="1749857"/>
          </a:xfrm>
        </p:grpSpPr>
        <p:grpSp>
          <p:nvGrpSpPr>
            <p:cNvPr id="60" name="Google Shape;60;p1"/>
            <p:cNvGrpSpPr/>
            <p:nvPr/>
          </p:nvGrpSpPr>
          <p:grpSpPr>
            <a:xfrm>
              <a:off x="7517406" y="172886"/>
              <a:ext cx="1422777" cy="1427513"/>
              <a:chOff x="7262125" y="293761"/>
              <a:chExt cx="1422777" cy="1427513"/>
            </a:xfrm>
          </p:grpSpPr>
          <p:grpSp>
            <p:nvGrpSpPr>
              <p:cNvPr id="61" name="Google Shape;61;p1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62" name="Google Shape;62;p1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63" name="Google Shape;63;p1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4" name="Google Shape;64;p1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1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6" name="Google Shape;66;p1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67" name="Google Shape;67;p1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" name="Google Shape;68;p1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9" name="Google Shape;69;p1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70" name="Google Shape;70;p1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" name="Google Shape;71;p1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72" name="Google Shape;72;p1"/>
              <p:cNvSpPr txBox="1"/>
              <p:nvPr/>
            </p:nvSpPr>
            <p:spPr>
              <a:xfrm>
                <a:off x="7388096" y="1302335"/>
                <a:ext cx="11709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pt-BR" sz="18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8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73" name="Google Shape;73;p1"/>
            <p:cNvGrpSpPr/>
            <p:nvPr/>
          </p:nvGrpSpPr>
          <p:grpSpPr>
            <a:xfrm>
              <a:off x="7517385" y="1647183"/>
              <a:ext cx="1422819" cy="275560"/>
              <a:chOff x="7178425" y="4449275"/>
              <a:chExt cx="1918064" cy="371475"/>
            </a:xfrm>
          </p:grpSpPr>
          <p:pic>
            <p:nvPicPr>
              <p:cNvPr id="74" name="Google Shape;74;p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" name="Google Shape;75;p1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76" name="Google Shape;76;p1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77" name="Google Shape;77;p1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" name="Google Shape;78;p1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" name="Google Shape;79;p1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" name="Google Shape;80;p1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" name="Google Shape;81;p1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2" name="Google Shape;82;p1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83" name="Google Shape;83;p1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" name="Google Shape;84;p1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" name="Google Shape;85;p1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" name="Google Shape;86;p1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87" name="Google Shape;87;p1"/>
          <p:cNvSpPr txBox="1"/>
          <p:nvPr/>
        </p:nvSpPr>
        <p:spPr>
          <a:xfrm>
            <a:off x="3899225" y="4472913"/>
            <a:ext cx="492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Equipe: Celso Adamo, Edson Deodato e Rafael Schreinert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2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95" name="Google Shape;95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2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8063009" y="3922219"/>
            <a:ext cx="761493" cy="936523"/>
            <a:chOff x="7517385" y="172886"/>
            <a:chExt cx="1422819" cy="1749857"/>
          </a:xfrm>
        </p:grpSpPr>
        <p:grpSp>
          <p:nvGrpSpPr>
            <p:cNvPr id="98" name="Google Shape;98;p2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99" name="Google Shape;99;p2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100" name="Google Shape;100;p2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101" name="Google Shape;101;p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02" name="Google Shape;102;p2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" name="Google Shape;103;p2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4" name="Google Shape;104;p2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105" name="Google Shape;105;p2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6" name="Google Shape;106;p2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7" name="Google Shape;107;p2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108" name="Google Shape;108;p2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9" name="Google Shape;109;p2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110" name="Google Shape;110;p2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111" name="Google Shape;111;p2"/>
            <p:cNvGrpSpPr/>
            <p:nvPr/>
          </p:nvGrpSpPr>
          <p:grpSpPr>
            <a:xfrm>
              <a:off x="7517385" y="1647183"/>
              <a:ext cx="1422819" cy="275560"/>
              <a:chOff x="7178425" y="4449275"/>
              <a:chExt cx="1918064" cy="371475"/>
            </a:xfrm>
          </p:grpSpPr>
          <p:pic>
            <p:nvPicPr>
              <p:cNvPr id="112" name="Google Shape;112;p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13" name="Google Shape;113;p2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114" name="Google Shape;114;p2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115" name="Google Shape;115;p2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2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" name="Google Shape;117;p2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2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2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0" name="Google Shape;120;p2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121" name="Google Shape;121;p2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" name="Google Shape;122;p2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" name="Google Shape;123;p2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p2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25" name="Google Shape;125;p2"/>
          <p:cNvSpPr txBox="1"/>
          <p:nvPr/>
        </p:nvSpPr>
        <p:spPr>
          <a:xfrm>
            <a:off x="3787125" y="810250"/>
            <a:ext cx="454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 do Projeto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868488" y="1730900"/>
            <a:ext cx="721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Trazer conhecimento sobre o estado atual do negócio da Olist respondendo algumas questões importantes com uma abordagem descritiva e criar uma solução para que a empresa possa prever as vendas diárias ao longo do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68488" y="2593675"/>
            <a:ext cx="733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pt-BR">
                <a:solidFill>
                  <a:schemeClr val="dk1"/>
                </a:solidFill>
              </a:rPr>
              <a:t>Qual foi o ano com mais vendas e quais o meses que os clientes mais compram?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68488" y="2999250"/>
            <a:ext cx="73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as 5 categorias de produtos mais vendidos?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868488" y="3404825"/>
            <a:ext cx="73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a média de produtos por pedido?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868488" y="3810400"/>
            <a:ext cx="73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a relação entre o preço de venda e o valor do frete?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2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2"/>
          <p:cNvSpPr txBox="1"/>
          <p:nvPr/>
        </p:nvSpPr>
        <p:spPr>
          <a:xfrm>
            <a:off x="7805150" y="1834175"/>
            <a:ext cx="47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pt-B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7192875" y="3056250"/>
            <a:ext cx="47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pt-B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6001550" y="2999250"/>
            <a:ext cx="47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pt-B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322750" y="3707925"/>
            <a:ext cx="47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pt-BR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9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3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143" name="Google Shape;143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3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5" name="Google Shape;14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2923" y="3087799"/>
            <a:ext cx="2617976" cy="4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1174" y="3850101"/>
            <a:ext cx="1601026" cy="9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75952" y="3787875"/>
            <a:ext cx="1601019" cy="9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29065" y="1744248"/>
            <a:ext cx="1663923" cy="9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12338" y="2680775"/>
            <a:ext cx="919320" cy="106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42075" y="1919850"/>
            <a:ext cx="1456652" cy="43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8125" y="1825862"/>
            <a:ext cx="1456663" cy="56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3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3"/>
          <p:cNvSpPr txBox="1"/>
          <p:nvPr/>
        </p:nvSpPr>
        <p:spPr>
          <a:xfrm>
            <a:off x="2967925" y="810250"/>
            <a:ext cx="5363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Ferramentas Utilizadas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4" name="Google Shape;154;p3"/>
          <p:cNvGrpSpPr/>
          <p:nvPr/>
        </p:nvGrpSpPr>
        <p:grpSpPr>
          <a:xfrm>
            <a:off x="898025" y="2680787"/>
            <a:ext cx="2974800" cy="2177963"/>
            <a:chOff x="517025" y="2680787"/>
            <a:chExt cx="2974800" cy="2177963"/>
          </a:xfrm>
        </p:grpSpPr>
        <p:sp>
          <p:nvSpPr>
            <p:cNvPr id="155" name="Google Shape;155;p3"/>
            <p:cNvSpPr/>
            <p:nvPr/>
          </p:nvSpPr>
          <p:spPr>
            <a:xfrm>
              <a:off x="517025" y="3209650"/>
              <a:ext cx="2974800" cy="16491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6" name="Google Shape;156;p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72765" y="2680787"/>
              <a:ext cx="1708609" cy="723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649351" y="3289074"/>
              <a:ext cx="710149" cy="2871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072775" y="3988221"/>
              <a:ext cx="1017125" cy="203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08575" y="3635063"/>
              <a:ext cx="710151" cy="215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315648" y="3936599"/>
              <a:ext cx="919325" cy="30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637350" y="3500784"/>
              <a:ext cx="533319" cy="28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369426" y="4392000"/>
              <a:ext cx="811774" cy="367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928118" y="4455687"/>
              <a:ext cx="839307" cy="240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3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165" name="Google Shape;165;p3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166" name="Google Shape;166;p3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167" name="Google Shape;167;p3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168" name="Google Shape;168;p3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9" name="Google Shape;169;p3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1" name="Google Shape;171;p3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172" name="Google Shape;172;p3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3" name="Google Shape;173;p3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74" name="Google Shape;174;p3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175" name="Google Shape;175;p3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6" name="Google Shape;176;p3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177" name="Google Shape;177;p3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178" name="Google Shape;178;p3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179" name="Google Shape;179;p3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80" name="Google Shape;180;p3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181" name="Google Shape;181;p3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182" name="Google Shape;182;p3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" name="Google Shape;183;p3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3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" name="Google Shape;185;p3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" name="Google Shape;186;p3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7" name="Google Shape;187;p3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188" name="Google Shape;188;p3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3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" name="Google Shape;190;p3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" name="Google Shape;191;p3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4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4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199" name="Google Shape;199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4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1" name="Google Shape;201;p4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4"/>
          <p:cNvSpPr txBox="1"/>
          <p:nvPr/>
        </p:nvSpPr>
        <p:spPr>
          <a:xfrm>
            <a:off x="2974625" y="810250"/>
            <a:ext cx="535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Arquitetura da Solução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1280775" y="3048800"/>
            <a:ext cx="6030000" cy="1692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9150" y="4140737"/>
            <a:ext cx="3166426" cy="4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1347925" y="4291025"/>
            <a:ext cx="106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BUCKETS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4"/>
          <p:cNvGrpSpPr/>
          <p:nvPr/>
        </p:nvGrpSpPr>
        <p:grpSpPr>
          <a:xfrm>
            <a:off x="1485635" y="3212575"/>
            <a:ext cx="1060809" cy="691500"/>
            <a:chOff x="1467225" y="2679175"/>
            <a:chExt cx="1336200" cy="691500"/>
          </a:xfrm>
        </p:grpSpPr>
        <p:sp>
          <p:nvSpPr>
            <p:cNvPr id="207" name="Google Shape;207;p4"/>
            <p:cNvSpPr/>
            <p:nvPr/>
          </p:nvSpPr>
          <p:spPr>
            <a:xfrm>
              <a:off x="1467225" y="2679175"/>
              <a:ext cx="1336200" cy="6915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1604925" y="2824825"/>
              <a:ext cx="1060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LANDING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3597363" y="3212575"/>
            <a:ext cx="1119882" cy="691500"/>
            <a:chOff x="2845025" y="2679175"/>
            <a:chExt cx="1371900" cy="691500"/>
          </a:xfrm>
        </p:grpSpPr>
        <p:sp>
          <p:nvSpPr>
            <p:cNvPr id="210" name="Google Shape;210;p4"/>
            <p:cNvSpPr/>
            <p:nvPr/>
          </p:nvSpPr>
          <p:spPr>
            <a:xfrm>
              <a:off x="2862875" y="2679175"/>
              <a:ext cx="1336200" cy="6915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2845025" y="2824825"/>
              <a:ext cx="13719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PROCESSING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5744926" y="3212575"/>
            <a:ext cx="1119869" cy="691500"/>
            <a:chOff x="5363925" y="2679175"/>
            <a:chExt cx="1336200" cy="691500"/>
          </a:xfrm>
        </p:grpSpPr>
        <p:sp>
          <p:nvSpPr>
            <p:cNvPr id="213" name="Google Shape;213;p4"/>
            <p:cNvSpPr/>
            <p:nvPr/>
          </p:nvSpPr>
          <p:spPr>
            <a:xfrm>
              <a:off x="5363925" y="2679175"/>
              <a:ext cx="1336200" cy="6915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5501625" y="2824825"/>
              <a:ext cx="1060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CURATED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4"/>
          <p:cNvSpPr/>
          <p:nvPr/>
        </p:nvSpPr>
        <p:spPr>
          <a:xfrm>
            <a:off x="812700" y="1692125"/>
            <a:ext cx="1671948" cy="972324"/>
          </a:xfrm>
          <a:prstGeom prst="cloud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1974" y="1885425"/>
            <a:ext cx="761475" cy="2941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4"/>
          <p:cNvCxnSpPr/>
          <p:nvPr/>
        </p:nvCxnSpPr>
        <p:spPr>
          <a:xfrm>
            <a:off x="1812975" y="2531450"/>
            <a:ext cx="0" cy="8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18" name="Google Shape;218;p4"/>
          <p:cNvGrpSpPr/>
          <p:nvPr/>
        </p:nvGrpSpPr>
        <p:grpSpPr>
          <a:xfrm>
            <a:off x="2679069" y="3253601"/>
            <a:ext cx="785700" cy="457074"/>
            <a:chOff x="2679069" y="3253601"/>
            <a:chExt cx="785700" cy="457074"/>
          </a:xfrm>
        </p:grpSpPr>
        <p:cxnSp>
          <p:nvCxnSpPr>
            <p:cNvPr id="219" name="Google Shape;219;p4"/>
            <p:cNvCxnSpPr/>
            <p:nvPr/>
          </p:nvCxnSpPr>
          <p:spPr>
            <a:xfrm>
              <a:off x="2679069" y="3710675"/>
              <a:ext cx="785700" cy="0"/>
            </a:xfrm>
            <a:prstGeom prst="straightConnector1">
              <a:avLst/>
            </a:prstGeom>
            <a:noFill/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id="220" name="Google Shape;220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00805" y="3253601"/>
              <a:ext cx="542228" cy="3050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221" name="Google Shape;221;p4"/>
          <p:cNvGrpSpPr/>
          <p:nvPr/>
        </p:nvGrpSpPr>
        <p:grpSpPr>
          <a:xfrm>
            <a:off x="4838231" y="3253588"/>
            <a:ext cx="785700" cy="457075"/>
            <a:chOff x="4838231" y="3253588"/>
            <a:chExt cx="785700" cy="457075"/>
          </a:xfrm>
        </p:grpSpPr>
        <p:cxnSp>
          <p:nvCxnSpPr>
            <p:cNvPr id="222" name="Google Shape;222;p4"/>
            <p:cNvCxnSpPr/>
            <p:nvPr/>
          </p:nvCxnSpPr>
          <p:spPr>
            <a:xfrm>
              <a:off x="4838231" y="3710663"/>
              <a:ext cx="785700" cy="0"/>
            </a:xfrm>
            <a:prstGeom prst="straightConnector1">
              <a:avLst/>
            </a:prstGeom>
            <a:noFill/>
            <a:ln cap="flat" cmpd="sng" w="19050">
              <a:solidFill>
                <a:srgbClr val="E6913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id="223" name="Google Shape;223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59967" y="3253588"/>
              <a:ext cx="542228" cy="3050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224" name="Google Shape;22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25300" y="1916297"/>
            <a:ext cx="873249" cy="1011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4350" y="1887722"/>
            <a:ext cx="873249" cy="10117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4"/>
          <p:cNvCxnSpPr>
            <a:stCxn id="207" idx="0"/>
            <a:endCxn id="224" idx="1"/>
          </p:cNvCxnSpPr>
          <p:nvPr/>
        </p:nvCxnSpPr>
        <p:spPr>
          <a:xfrm flipH="1" rot="10800000">
            <a:off x="2016040" y="2422075"/>
            <a:ext cx="609300" cy="79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p4"/>
          <p:cNvCxnSpPr>
            <a:stCxn id="224" idx="3"/>
            <a:endCxn id="211" idx="0"/>
          </p:cNvCxnSpPr>
          <p:nvPr/>
        </p:nvCxnSpPr>
        <p:spPr>
          <a:xfrm>
            <a:off x="3498549" y="2422149"/>
            <a:ext cx="658800" cy="93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4"/>
          <p:cNvCxnSpPr>
            <a:stCxn id="210" idx="0"/>
            <a:endCxn id="225" idx="1"/>
          </p:cNvCxnSpPr>
          <p:nvPr/>
        </p:nvCxnSpPr>
        <p:spPr>
          <a:xfrm flipH="1" rot="10800000">
            <a:off x="4157304" y="2393575"/>
            <a:ext cx="647100" cy="81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4"/>
          <p:cNvCxnSpPr>
            <a:endCxn id="220" idx="0"/>
          </p:cNvCxnSpPr>
          <p:nvPr/>
        </p:nvCxnSpPr>
        <p:spPr>
          <a:xfrm>
            <a:off x="3071919" y="2759801"/>
            <a:ext cx="0" cy="49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4"/>
          <p:cNvCxnSpPr>
            <a:endCxn id="223" idx="0"/>
          </p:cNvCxnSpPr>
          <p:nvPr/>
        </p:nvCxnSpPr>
        <p:spPr>
          <a:xfrm>
            <a:off x="5231081" y="2712688"/>
            <a:ext cx="0" cy="54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4"/>
          <p:cNvCxnSpPr>
            <a:stCxn id="225" idx="3"/>
            <a:endCxn id="214" idx="0"/>
          </p:cNvCxnSpPr>
          <p:nvPr/>
        </p:nvCxnSpPr>
        <p:spPr>
          <a:xfrm>
            <a:off x="5677599" y="2393574"/>
            <a:ext cx="627300" cy="96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2" name="Google Shape;23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24600" y="2154601"/>
            <a:ext cx="1041915" cy="609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4"/>
          <p:cNvCxnSpPr>
            <a:endCxn id="232" idx="2"/>
          </p:cNvCxnSpPr>
          <p:nvPr/>
        </p:nvCxnSpPr>
        <p:spPr>
          <a:xfrm flipH="1" rot="10800000">
            <a:off x="6567158" y="2764075"/>
            <a:ext cx="278400" cy="58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4" name="Google Shape;234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29449" y="1692125"/>
            <a:ext cx="1370141" cy="45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4"/>
          <p:cNvCxnSpPr>
            <a:stCxn id="232" idx="3"/>
            <a:endCxn id="234" idx="2"/>
          </p:cNvCxnSpPr>
          <p:nvPr/>
        </p:nvCxnSpPr>
        <p:spPr>
          <a:xfrm flipH="1" rot="10800000">
            <a:off x="7366515" y="2149138"/>
            <a:ext cx="447900" cy="3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6" name="Google Shape;236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17087" y="1414550"/>
            <a:ext cx="1041925" cy="586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"/>
          <p:cNvSpPr/>
          <p:nvPr/>
        </p:nvSpPr>
        <p:spPr>
          <a:xfrm>
            <a:off x="2974625" y="1703592"/>
            <a:ext cx="584200" cy="317550"/>
          </a:xfrm>
          <a:custGeom>
            <a:rect b="b" l="l" r="r" t="t"/>
            <a:pathLst>
              <a:path extrusionOk="0" h="12702" w="23368">
                <a:moveTo>
                  <a:pt x="0" y="12702"/>
                </a:moveTo>
                <a:cubicBezTo>
                  <a:pt x="537" y="10822"/>
                  <a:pt x="-672" y="3525"/>
                  <a:pt x="3223" y="1421"/>
                </a:cubicBezTo>
                <a:cubicBezTo>
                  <a:pt x="7118" y="-683"/>
                  <a:pt x="20011" y="302"/>
                  <a:pt x="23368" y="78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 flipH="1">
            <a:off x="4717250" y="1703592"/>
            <a:ext cx="584200" cy="317550"/>
          </a:xfrm>
          <a:custGeom>
            <a:rect b="b" l="l" r="r" t="t"/>
            <a:pathLst>
              <a:path extrusionOk="0" h="12702" w="23368">
                <a:moveTo>
                  <a:pt x="0" y="12702"/>
                </a:moveTo>
                <a:cubicBezTo>
                  <a:pt x="537" y="10822"/>
                  <a:pt x="-672" y="3525"/>
                  <a:pt x="3223" y="1421"/>
                </a:cubicBezTo>
                <a:cubicBezTo>
                  <a:pt x="7118" y="-683"/>
                  <a:pt x="20011" y="302"/>
                  <a:pt x="23368" y="78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149042" y="1964075"/>
            <a:ext cx="160658" cy="2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016042" y="2239650"/>
            <a:ext cx="160658" cy="2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87267" y="2344975"/>
            <a:ext cx="160658" cy="2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68342" y="2422075"/>
            <a:ext cx="160658" cy="2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762317" y="2136975"/>
            <a:ext cx="160658" cy="2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679075" y="3784859"/>
            <a:ext cx="785700" cy="160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4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246" name="Google Shape;246;p4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247" name="Google Shape;247;p4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248" name="Google Shape;248;p4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249" name="Google Shape;249;p4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0" name="Google Shape;250;p4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4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52" name="Google Shape;252;p4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253" name="Google Shape;253;p4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" name="Google Shape;254;p4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55" name="Google Shape;255;p4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256" name="Google Shape;256;p4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7" name="Google Shape;257;p4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258" name="Google Shape;258;p4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260" name="Google Shape;260;p4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61" name="Google Shape;261;p4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262" name="Google Shape;262;p4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263" name="Google Shape;263;p4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" name="Google Shape;264;p4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" name="Google Shape;265;p4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" name="Google Shape;266;p4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" name="Google Shape;267;p4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68" name="Google Shape;268;p4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269" name="Google Shape;269;p4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0" name="Google Shape;270;p4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1" name="Google Shape;271;p4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2" name="Google Shape;272;p4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5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280" name="Google Shape;280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5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p5"/>
          <p:cNvSpPr txBox="1"/>
          <p:nvPr/>
        </p:nvSpPr>
        <p:spPr>
          <a:xfrm>
            <a:off x="3961700" y="810250"/>
            <a:ext cx="436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Principais Desafios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868507" y="1933125"/>
            <a:ext cx="73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Integração do notebook com o ambiente do Databricks.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868488" y="2871763"/>
            <a:ext cx="73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Disponibilizar o App na cloud da Streamlit.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868488" y="3810400"/>
            <a:ext cx="73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Instalar algumas bibliotecas na máquina local. Ex.: Prophet.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5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7" name="Google Shape;287;p5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288" name="Google Shape;288;p5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289" name="Google Shape;289;p5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290" name="Google Shape;290;p5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291" name="Google Shape;291;p5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92" name="Google Shape;292;p5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" name="Google Shape;293;p5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4" name="Google Shape;294;p5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295" name="Google Shape;295;p5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96" name="Google Shape;296;p5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97" name="Google Shape;297;p5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298" name="Google Shape;298;p5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99" name="Google Shape;299;p5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300" name="Google Shape;300;p5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302" name="Google Shape;302;p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3" name="Google Shape;303;p5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304" name="Google Shape;304;p5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305" name="Google Shape;305;p5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6" name="Google Shape;306;p5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7" name="Google Shape;307;p5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8" name="Google Shape;308;p5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9" name="Google Shape;309;p5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10" name="Google Shape;310;p5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311" name="Google Shape;311;p5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2" name="Google Shape;312;p5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3" name="Google Shape;313;p5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4" name="Google Shape;314;p5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6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6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322" name="Google Shape;322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6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6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Insights e Conhecimento Gerado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6"/>
          <p:cNvSpPr txBox="1"/>
          <p:nvPr/>
        </p:nvSpPr>
        <p:spPr>
          <a:xfrm>
            <a:off x="5057179" y="1769950"/>
            <a:ext cx="327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vendas tem uma tendência positiva ou de crescimento ao logo dos anos.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6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7" name="Google Shape;327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200" y="1769939"/>
            <a:ext cx="3965726" cy="283266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28" name="Google Shape;328;p6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329" name="Google Shape;329;p6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330" name="Google Shape;330;p6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331" name="Google Shape;331;p6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332" name="Google Shape;332;p6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33" name="Google Shape;333;p6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4" name="Google Shape;334;p6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35" name="Google Shape;335;p6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336" name="Google Shape;336;p6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37" name="Google Shape;337;p6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38" name="Google Shape;338;p6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339" name="Google Shape;339;p6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40" name="Google Shape;340;p6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341" name="Google Shape;341;p6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342" name="Google Shape;342;p6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343" name="Google Shape;343;p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4" name="Google Shape;344;p6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345" name="Google Shape;345;p6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346" name="Google Shape;346;p6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7" name="Google Shape;347;p6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8" name="Google Shape;348;p6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6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6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51" name="Google Shape;351;p6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352" name="Google Shape;352;p6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3" name="Google Shape;353;p6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4" name="Google Shape;354;p6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5" name="Google Shape;355;p6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7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7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363" name="Google Shape;36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7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7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Insights e Conhecimento Gerado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913207" y="1814725"/>
            <a:ext cx="751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97% dos produtos são entregues aos clientes, ou seja, os pedidos estão no estado </a:t>
            </a:r>
            <a:r>
              <a:rPr b="1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delivered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7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7"/>
          <p:cNvSpPr txBox="1"/>
          <p:nvPr/>
        </p:nvSpPr>
        <p:spPr>
          <a:xfrm>
            <a:off x="3677053" y="2711500"/>
            <a:ext cx="47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das categorias de produtos mais compradas é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cama_mesa_banho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7"/>
          <p:cNvPicPr preferRelativeResize="0"/>
          <p:nvPr/>
        </p:nvPicPr>
        <p:blipFill rotWithShape="1">
          <a:blip r:embed="rId6">
            <a:alphaModFix/>
          </a:blip>
          <a:srcRect b="0" l="12180" r="0" t="0"/>
          <a:stretch/>
        </p:blipFill>
        <p:spPr>
          <a:xfrm>
            <a:off x="913200" y="2711500"/>
            <a:ext cx="2609850" cy="16097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70" name="Google Shape;370;p7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371" name="Google Shape;371;p7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372" name="Google Shape;372;p7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373" name="Google Shape;373;p7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374" name="Google Shape;374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75" name="Google Shape;375;p7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6" name="Google Shape;376;p7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77" name="Google Shape;377;p7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378" name="Google Shape;378;p7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9" name="Google Shape;379;p7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80" name="Google Shape;380;p7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381" name="Google Shape;381;p7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2" name="Google Shape;382;p7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383" name="Google Shape;383;p7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384" name="Google Shape;384;p7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385" name="Google Shape;385;p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86" name="Google Shape;386;p7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387" name="Google Shape;387;p7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388" name="Google Shape;388;p7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7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7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7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7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93" name="Google Shape;393;p7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394" name="Google Shape;394;p7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5" name="Google Shape;395;p7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6" name="Google Shape;396;p7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7" name="Google Shape;397;p7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8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4" name="Google Shape;404;p8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405" name="Google Shape;405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8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" name="Google Shape;407;p8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Insights e Conhecimento Gerado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8"/>
          <p:cNvSpPr txBox="1"/>
          <p:nvPr/>
        </p:nvSpPr>
        <p:spPr>
          <a:xfrm>
            <a:off x="5291226" y="1742775"/>
            <a:ext cx="3140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clientes utilizam 5 formas de pagamento nas compras, e a forma mais utilizada é o cartão de crédito (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credit_card)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8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0" name="Google Shape;410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200" y="1742775"/>
            <a:ext cx="4286721" cy="304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11" name="Google Shape;411;p8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412" name="Google Shape;412;p8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413" name="Google Shape;413;p8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414" name="Google Shape;414;p8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415" name="Google Shape;415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6" name="Google Shape;416;p8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17" name="Google Shape;417;p8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18" name="Google Shape;418;p8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419" name="Google Shape;419;p8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0" name="Google Shape;420;p8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21" name="Google Shape;421;p8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422" name="Google Shape;422;p8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3" name="Google Shape;423;p8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424" name="Google Shape;424;p8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425" name="Google Shape;425;p8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426" name="Google Shape;426;p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27" name="Google Shape;427;p8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428" name="Google Shape;428;p8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429" name="Google Shape;429;p8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0" name="Google Shape;430;p8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1" name="Google Shape;431;p8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2" name="Google Shape;432;p8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3" name="Google Shape;433;p8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4" name="Google Shape;434;p8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435" name="Google Shape;435;p8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" name="Google Shape;436;p8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" name="Google Shape;437;p8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" name="Google Shape;438;p8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9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9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446" name="Google Shape;44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9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9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Insights e Conhecimento Gerado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p9"/>
          <p:cNvSpPr txBox="1"/>
          <p:nvPr/>
        </p:nvSpPr>
        <p:spPr>
          <a:xfrm>
            <a:off x="4848000" y="1764575"/>
            <a:ext cx="3483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maior parte dos pagamentos é feita em uma única parcela.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 os pagamentos parcelados variam de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a 24 vezes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sendo que em média os clientes pagam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prestações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9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1" name="Google Shape;45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200" y="1764575"/>
            <a:ext cx="3883902" cy="30941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52" name="Google Shape;452;p9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453" name="Google Shape;453;p9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454" name="Google Shape;454;p9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455" name="Google Shape;455;p9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456" name="Google Shape;456;p9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57" name="Google Shape;457;p9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8" name="Google Shape;458;p9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9" name="Google Shape;459;p9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460" name="Google Shape;460;p9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1" name="Google Shape;461;p9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62" name="Google Shape;462;p9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463" name="Google Shape;463;p9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4" name="Google Shape;464;p9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465" name="Google Shape;465;p9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466" name="Google Shape;466;p9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467" name="Google Shape;467;p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68" name="Google Shape;468;p9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469" name="Google Shape;469;p9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470" name="Google Shape;470;p9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1" name="Google Shape;471;p9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" name="Google Shape;472;p9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3" name="Google Shape;473;p9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" name="Google Shape;474;p9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75" name="Google Shape;475;p9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476" name="Google Shape;476;p9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9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9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9" name="Google Shape;479;p9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10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6" name="Google Shape;486;p10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487" name="Google Shape;487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10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9" name="Google Shape;489;p10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Insights e Conhecimento Gerado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90" name="Google Shape;490;p10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10"/>
          <p:cNvSpPr txBox="1"/>
          <p:nvPr/>
        </p:nvSpPr>
        <p:spPr>
          <a:xfrm>
            <a:off x="913207" y="1814725"/>
            <a:ext cx="75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maior parte dos reviews dos produtos é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positiva (média de 4.08)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0"/>
          <p:cNvSpPr txBox="1"/>
          <p:nvPr/>
        </p:nvSpPr>
        <p:spPr>
          <a:xfrm>
            <a:off x="913207" y="2559675"/>
            <a:ext cx="751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dos títulos mais usados é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RECOMENDO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a mensagem mais escrita é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Muito Bom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0"/>
          <p:cNvSpPr txBox="1"/>
          <p:nvPr/>
        </p:nvSpPr>
        <p:spPr>
          <a:xfrm>
            <a:off x="913200" y="3520025"/>
            <a:ext cx="751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Também constatamos que a maior parte das vendas teve um </a:t>
            </a:r>
            <a:r>
              <a:rPr b="1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score </a:t>
            </a: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b="1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5</a:t>
            </a: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(classificação máxima), isto é, um review positivo.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p10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495" name="Google Shape;495;p10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496" name="Google Shape;496;p10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497" name="Google Shape;497;p10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498" name="Google Shape;498;p10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99" name="Google Shape;499;p10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0" name="Google Shape;500;p10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1" name="Google Shape;501;p10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502" name="Google Shape;502;p10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3" name="Google Shape;503;p10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04" name="Google Shape;504;p10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505" name="Google Shape;505;p10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6" name="Google Shape;506;p10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507" name="Google Shape;507;p10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508" name="Google Shape;508;p10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509" name="Google Shape;509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10" name="Google Shape;510;p10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511" name="Google Shape;511;p10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512" name="Google Shape;512;p10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3" name="Google Shape;513;p10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4" name="Google Shape;514;p10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5" name="Google Shape;515;p10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6" name="Google Shape;516;p10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17" name="Google Shape;517;p10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518" name="Google Shape;518;p10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9" name="Google Shape;519;p10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0" name="Google Shape;520;p10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" name="Google Shape;521;p10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1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8" name="Google Shape;528;p11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529" name="Google Shape;529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11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1" name="Google Shape;531;p11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Insights e Conhecimento Gerado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2" name="Google Shape;532;p11"/>
          <p:cNvSpPr txBox="1"/>
          <p:nvPr/>
        </p:nvSpPr>
        <p:spPr>
          <a:xfrm>
            <a:off x="1704900" y="4082688"/>
            <a:ext cx="573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Existe uma correlação </a:t>
            </a:r>
            <a:r>
              <a:rPr b="1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positiva fraca (0.41)</a:t>
            </a: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entre o preço de venda e o valor de frete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11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34" name="Google Shape;534;p11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535" name="Google Shape;535;p11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536" name="Google Shape;536;p11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537" name="Google Shape;537;p11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538" name="Google Shape;538;p11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39" name="Google Shape;539;p11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0" name="Google Shape;540;p11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41" name="Google Shape;541;p11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542" name="Google Shape;542;p11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43" name="Google Shape;543;p11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44" name="Google Shape;544;p11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545" name="Google Shape;545;p11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46" name="Google Shape;546;p11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547" name="Google Shape;547;p11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548" name="Google Shape;548;p11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549" name="Google Shape;549;p1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50" name="Google Shape;550;p11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551" name="Google Shape;551;p11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552" name="Google Shape;552;p11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" name="Google Shape;553;p11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4" name="Google Shape;554;p11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5" name="Google Shape;555;p11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6" name="Google Shape;556;p11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57" name="Google Shape;557;p11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558" name="Google Shape;558;p11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9" name="Google Shape;559;p11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0" name="Google Shape;560;p11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1" name="Google Shape;561;p11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pic>
        <p:nvPicPr>
          <p:cNvPr id="562" name="Google Shape;562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3200" y="1705550"/>
            <a:ext cx="7096701" cy="2290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12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12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570" name="Google Shape;57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1" name="Google Shape;571;p12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12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Insights e Conhecimento Gerado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3" name="Google Shape;573;p12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4" name="Google Shape;57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200" y="1723650"/>
            <a:ext cx="1952625" cy="13906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5" name="Google Shape;575;p12"/>
          <p:cNvSpPr txBox="1"/>
          <p:nvPr/>
        </p:nvSpPr>
        <p:spPr>
          <a:xfrm>
            <a:off x="2967950" y="1723650"/>
            <a:ext cx="53634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Na cadeia de fornecedores existentes </a:t>
            </a:r>
            <a:r>
              <a:rPr b="1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São Paulo</a:t>
            </a: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é a cidade que mais vende.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2"/>
          <p:cNvSpPr txBox="1"/>
          <p:nvPr/>
        </p:nvSpPr>
        <p:spPr>
          <a:xfrm>
            <a:off x="862957" y="3749856"/>
            <a:ext cx="75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Os preços dos produtos variam de R$ 0,85 a R$ 6.735,00.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2"/>
          <p:cNvSpPr txBox="1"/>
          <p:nvPr/>
        </p:nvSpPr>
        <p:spPr>
          <a:xfrm>
            <a:off x="862957" y="3245000"/>
            <a:ext cx="75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Existem vendas sem </a:t>
            </a:r>
            <a:r>
              <a:rPr b="1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não pagas</a:t>
            </a: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ou com </a:t>
            </a:r>
            <a:r>
              <a:rPr b="1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valor de pagamento igual a zero</a:t>
            </a: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2"/>
          <p:cNvSpPr txBox="1"/>
          <p:nvPr/>
        </p:nvSpPr>
        <p:spPr>
          <a:xfrm>
            <a:off x="862957" y="4254713"/>
            <a:ext cx="75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❏"/>
            </a:pPr>
            <a:r>
              <a:rPr b="0" i="0" lang="pt-BR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Os preços dos fretes variam de 0 a R$ 409,68.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12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580" name="Google Shape;580;p12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581" name="Google Shape;581;p12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582" name="Google Shape;582;p12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583" name="Google Shape;583;p12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84" name="Google Shape;584;p12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5" name="Google Shape;585;p12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86" name="Google Shape;586;p12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587" name="Google Shape;587;p12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8" name="Google Shape;588;p12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89" name="Google Shape;589;p12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590" name="Google Shape;590;p12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" name="Google Shape;591;p12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592" name="Google Shape;592;p12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593" name="Google Shape;593;p12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594" name="Google Shape;594;p1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95" name="Google Shape;595;p12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596" name="Google Shape;596;p12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597" name="Google Shape;597;p12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8" name="Google Shape;598;p12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9" name="Google Shape;599;p12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0" name="Google Shape;600;p12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1" name="Google Shape;601;p12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02" name="Google Shape;602;p12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603" name="Google Shape;603;p12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4" name="Google Shape;604;p12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5" name="Google Shape;605;p12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6" name="Google Shape;606;p12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3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13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614" name="Google Shape;61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" name="Google Shape;615;p13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13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Métricas de Performance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17" name="Google Shape;617;p13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13"/>
          <p:cNvSpPr txBox="1"/>
          <p:nvPr/>
        </p:nvSpPr>
        <p:spPr>
          <a:xfrm>
            <a:off x="5446379" y="1670288"/>
            <a:ext cx="2985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 estimativa de predizer o valor de venda diário foi implementado um modelo utilizando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Facebook Prophet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atingiu uma performance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aproximadamente 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R$ 9.612,24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(superando um pouco um modelo de base que é de 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R$ 11.848,30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isto é, em média o valor previsto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diferir o valor real em +/-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R$ 9 mil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13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620" name="Google Shape;620;p13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621" name="Google Shape;621;p13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622" name="Google Shape;622;p13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623" name="Google Shape;623;p1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24" name="Google Shape;624;p13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5" name="Google Shape;625;p13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26" name="Google Shape;626;p13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627" name="Google Shape;627;p13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8" name="Google Shape;628;p13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29" name="Google Shape;629;p13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630" name="Google Shape;630;p13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1" name="Google Shape;631;p13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632" name="Google Shape;632;p13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633" name="Google Shape;633;p13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634" name="Google Shape;634;p1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35" name="Google Shape;635;p13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636" name="Google Shape;636;p13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637" name="Google Shape;637;p13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8" name="Google Shape;638;p13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9" name="Google Shape;639;p13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0" name="Google Shape;640;p13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1" name="Google Shape;641;p13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42" name="Google Shape;642;p13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643" name="Google Shape;643;p13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4" name="Google Shape;644;p13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5" name="Google Shape;645;p13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6" name="Google Shape;646;p13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pic>
        <p:nvPicPr>
          <p:cNvPr id="647" name="Google Shape;64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3201" y="1670300"/>
            <a:ext cx="4533176" cy="26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1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14"/>
          <p:cNvPicPr preferRelativeResize="0"/>
          <p:nvPr/>
        </p:nvPicPr>
        <p:blipFill rotWithShape="1">
          <a:blip r:embed="rId3">
            <a:alphaModFix amt="19000"/>
          </a:blip>
          <a:srcRect b="21317" l="17790" r="0" t="14278"/>
          <a:stretch/>
        </p:blipFill>
        <p:spPr>
          <a:xfrm>
            <a:off x="0" y="0"/>
            <a:ext cx="67997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50" y="204625"/>
            <a:ext cx="2345950" cy="3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4" name="Google Shape;654;p14"/>
          <p:cNvGrpSpPr/>
          <p:nvPr/>
        </p:nvGrpSpPr>
        <p:grpSpPr>
          <a:xfrm>
            <a:off x="244240" y="204635"/>
            <a:ext cx="3432816" cy="562585"/>
            <a:chOff x="649783" y="801137"/>
            <a:chExt cx="14478346" cy="2372775"/>
          </a:xfrm>
        </p:grpSpPr>
        <p:pic>
          <p:nvPicPr>
            <p:cNvPr id="655" name="Google Shape;65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9783" y="801137"/>
              <a:ext cx="2372750" cy="237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p14"/>
            <p:cNvSpPr txBox="1"/>
            <p:nvPr/>
          </p:nvSpPr>
          <p:spPr>
            <a:xfrm>
              <a:off x="3076229" y="810058"/>
              <a:ext cx="12051900" cy="16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Projeto Ciência de Dados</a:t>
              </a:r>
              <a:endParaRPr b="1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7" name="Google Shape;657;p14"/>
          <p:cNvSpPr txBox="1"/>
          <p:nvPr/>
        </p:nvSpPr>
        <p:spPr>
          <a:xfrm>
            <a:off x="913200" y="810250"/>
            <a:ext cx="7418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Conclusão</a:t>
            </a:r>
            <a:endParaRPr b="1" i="0" sz="3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58" name="Google Shape;658;p14"/>
          <p:cNvCxnSpPr/>
          <p:nvPr/>
        </p:nvCxnSpPr>
        <p:spPr>
          <a:xfrm>
            <a:off x="812700" y="1533550"/>
            <a:ext cx="751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14"/>
          <p:cNvSpPr txBox="1"/>
          <p:nvPr/>
        </p:nvSpPr>
        <p:spPr>
          <a:xfrm>
            <a:off x="913207" y="1814725"/>
            <a:ext cx="75186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Através deste projeto foi possível praticar e implementar conceitos importantes de Ciência e Engenharia de Dados e propor uma solução para um problema latente em qualquer empresa de e-commerce que é a análise da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situação atual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negócio e 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previsão de vendas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meses subsequentes.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resolução dos problemas acima mencionados permitirá obter insights para desenhar e/ou alterar a estratégia do negócio da empresa, visto que, o e-commerce é um ambiente muito dinâmico e os clientes podem ter comportamentos diferentes de compras ao longo do tempo. Com a implementação desta solução teremos como benefício, um recurso organizacional que permitirá identificar o comportamento de compra dos clientes e contribuirá para ajustar a estratégia de venda e retenção de clientes num horizonte temporal.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92508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fim, como um processo de melhoria contínua podemos reduzir o erro de previsão, desenvolver uma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executar o pipeline de coleta e transformação dos dados e automatizar a etapa de Machine Learning e Deploy.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0" name="Google Shape;660;p14"/>
          <p:cNvGrpSpPr/>
          <p:nvPr/>
        </p:nvGrpSpPr>
        <p:grpSpPr>
          <a:xfrm>
            <a:off x="8063010" y="3922219"/>
            <a:ext cx="761493" cy="936525"/>
            <a:chOff x="7517387" y="172886"/>
            <a:chExt cx="1422820" cy="1749859"/>
          </a:xfrm>
        </p:grpSpPr>
        <p:grpSp>
          <p:nvGrpSpPr>
            <p:cNvPr id="661" name="Google Shape;661;p14"/>
            <p:cNvGrpSpPr/>
            <p:nvPr/>
          </p:nvGrpSpPr>
          <p:grpSpPr>
            <a:xfrm>
              <a:off x="7517406" y="172886"/>
              <a:ext cx="1422777" cy="1437717"/>
              <a:chOff x="7262125" y="293761"/>
              <a:chExt cx="1422777" cy="1437717"/>
            </a:xfrm>
          </p:grpSpPr>
          <p:grpSp>
            <p:nvGrpSpPr>
              <p:cNvPr id="662" name="Google Shape;662;p14"/>
              <p:cNvGrpSpPr/>
              <p:nvPr/>
            </p:nvGrpSpPr>
            <p:grpSpPr>
              <a:xfrm>
                <a:off x="7262125" y="293761"/>
                <a:ext cx="1422777" cy="1427513"/>
                <a:chOff x="2737300" y="745325"/>
                <a:chExt cx="3657525" cy="3669700"/>
              </a:xfrm>
            </p:grpSpPr>
            <p:grpSp>
              <p:nvGrpSpPr>
                <p:cNvPr id="663" name="Google Shape;663;p14"/>
                <p:cNvGrpSpPr/>
                <p:nvPr/>
              </p:nvGrpSpPr>
              <p:grpSpPr>
                <a:xfrm>
                  <a:off x="3038121" y="809189"/>
                  <a:ext cx="3009866" cy="2906138"/>
                  <a:chOff x="3038121" y="809189"/>
                  <a:chExt cx="3009866" cy="2906138"/>
                </a:xfrm>
              </p:grpSpPr>
              <p:pic>
                <p:nvPicPr>
                  <p:cNvPr id="664" name="Google Shape;664;p14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038121" y="809189"/>
                    <a:ext cx="3009866" cy="2906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65" name="Google Shape;665;p14"/>
                  <p:cNvSpPr/>
                  <p:nvPr/>
                </p:nvSpPr>
                <p:spPr>
                  <a:xfrm>
                    <a:off x="3415008" y="809203"/>
                    <a:ext cx="2245800" cy="3615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6" name="Google Shape;666;p14"/>
                  <p:cNvSpPr/>
                  <p:nvPr/>
                </p:nvSpPr>
                <p:spPr>
                  <a:xfrm>
                    <a:off x="3414923" y="3307027"/>
                    <a:ext cx="2245800" cy="4083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67" name="Google Shape;667;p14"/>
                <p:cNvGrpSpPr/>
                <p:nvPr/>
              </p:nvGrpSpPr>
              <p:grpSpPr>
                <a:xfrm>
                  <a:off x="2737300" y="7453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668" name="Google Shape;668;p14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69" name="Google Shape;669;p14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70" name="Google Shape;670;p14"/>
                <p:cNvGrpSpPr/>
                <p:nvPr/>
              </p:nvGrpSpPr>
              <p:grpSpPr>
                <a:xfrm rot="10800000">
                  <a:off x="5299525" y="3276825"/>
                  <a:ext cx="1095300" cy="1138200"/>
                  <a:chOff x="2737300" y="745325"/>
                  <a:chExt cx="1095300" cy="1138200"/>
                </a:xfrm>
              </p:grpSpPr>
              <p:cxnSp>
                <p:nvCxnSpPr>
                  <p:cNvPr id="671" name="Google Shape;671;p14"/>
                  <p:cNvCxnSpPr/>
                  <p:nvPr/>
                </p:nvCxnSpPr>
                <p:spPr>
                  <a:xfrm>
                    <a:off x="2745625" y="745325"/>
                    <a:ext cx="0" cy="11382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72" name="Google Shape;672;p14"/>
                  <p:cNvCxnSpPr/>
                  <p:nvPr/>
                </p:nvCxnSpPr>
                <p:spPr>
                  <a:xfrm rot="10800000">
                    <a:off x="2737300" y="759600"/>
                    <a:ext cx="10953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B45F0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673" name="Google Shape;673;p14"/>
              <p:cNvSpPr txBox="1"/>
              <p:nvPr/>
            </p:nvSpPr>
            <p:spPr>
              <a:xfrm>
                <a:off x="7307210" y="1352278"/>
                <a:ext cx="1332600" cy="37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pt-BR" sz="1000" u="none" cap="none" strike="noStrike">
                    <a:solidFill>
                      <a:srgbClr val="000000"/>
                    </a:solidFill>
                    <a:latin typeface="Economica"/>
                    <a:ea typeface="Economica"/>
                    <a:cs typeface="Economica"/>
                    <a:sym typeface="Economica"/>
                  </a:rPr>
                  <a:t>jupyter squad</a:t>
                </a:r>
                <a:endParaRPr b="0" i="0" sz="1000" u="none" cap="none" strike="noStrike">
                  <a:solidFill>
                    <a:srgbClr val="000000"/>
                  </a:solidFill>
                  <a:latin typeface="Economica"/>
                  <a:ea typeface="Economica"/>
                  <a:cs typeface="Economica"/>
                  <a:sym typeface="Economica"/>
                </a:endParaRPr>
              </a:p>
            </p:txBody>
          </p:sp>
        </p:grpSp>
        <p:grpSp>
          <p:nvGrpSpPr>
            <p:cNvPr id="674" name="Google Shape;674;p14"/>
            <p:cNvGrpSpPr/>
            <p:nvPr/>
          </p:nvGrpSpPr>
          <p:grpSpPr>
            <a:xfrm>
              <a:off x="7517387" y="1647185"/>
              <a:ext cx="1422820" cy="275560"/>
              <a:chOff x="7178425" y="4449275"/>
              <a:chExt cx="1918064" cy="371475"/>
            </a:xfrm>
          </p:grpSpPr>
          <p:pic>
            <p:nvPicPr>
              <p:cNvPr id="675" name="Google Shape;675;p1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78425" y="4449275"/>
                <a:ext cx="232792" cy="371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76" name="Google Shape;676;p14"/>
              <p:cNvGrpSpPr/>
              <p:nvPr/>
            </p:nvGrpSpPr>
            <p:grpSpPr>
              <a:xfrm>
                <a:off x="7443559" y="4522383"/>
                <a:ext cx="1652930" cy="284784"/>
                <a:chOff x="7262009" y="3947233"/>
                <a:chExt cx="1652930" cy="284784"/>
              </a:xfrm>
            </p:grpSpPr>
            <p:grpSp>
              <p:nvGrpSpPr>
                <p:cNvPr id="677" name="Google Shape;677;p14"/>
                <p:cNvGrpSpPr/>
                <p:nvPr/>
              </p:nvGrpSpPr>
              <p:grpSpPr>
                <a:xfrm>
                  <a:off x="7262009" y="3964533"/>
                  <a:ext cx="864912" cy="267484"/>
                  <a:chOff x="287775" y="1894525"/>
                  <a:chExt cx="6294850" cy="1657275"/>
                </a:xfrm>
              </p:grpSpPr>
              <p:sp>
                <p:nvSpPr>
                  <p:cNvPr id="678" name="Google Shape;678;p14"/>
                  <p:cNvSpPr/>
                  <p:nvPr/>
                </p:nvSpPr>
                <p:spPr>
                  <a:xfrm>
                    <a:off x="287775" y="1953225"/>
                    <a:ext cx="1332150" cy="1598575"/>
                  </a:xfrm>
                  <a:custGeom>
                    <a:rect b="b" l="l" r="r" t="t"/>
                    <a:pathLst>
                      <a:path extrusionOk="0" h="63943" w="53286">
                        <a:moveTo>
                          <a:pt x="28540" y="1"/>
                        </a:moveTo>
                        <a:cubicBezTo>
                          <a:pt x="23573" y="1"/>
                          <a:pt x="19238" y="814"/>
                          <a:pt x="15444" y="2439"/>
                        </a:cubicBezTo>
                        <a:cubicBezTo>
                          <a:pt x="11742" y="3884"/>
                          <a:pt x="8942" y="6142"/>
                          <a:pt x="6865" y="9032"/>
                        </a:cubicBezTo>
                        <a:cubicBezTo>
                          <a:pt x="4878" y="11832"/>
                          <a:pt x="3884" y="15264"/>
                          <a:pt x="3884" y="19057"/>
                        </a:cubicBezTo>
                        <a:cubicBezTo>
                          <a:pt x="3884" y="23121"/>
                          <a:pt x="4787" y="26372"/>
                          <a:pt x="6774" y="28811"/>
                        </a:cubicBezTo>
                        <a:cubicBezTo>
                          <a:pt x="8761" y="31249"/>
                          <a:pt x="11109" y="33055"/>
                          <a:pt x="13909" y="34229"/>
                        </a:cubicBezTo>
                        <a:cubicBezTo>
                          <a:pt x="16618" y="35403"/>
                          <a:pt x="20141" y="36577"/>
                          <a:pt x="24385" y="37751"/>
                        </a:cubicBezTo>
                        <a:cubicBezTo>
                          <a:pt x="27185" y="38564"/>
                          <a:pt x="29353" y="39196"/>
                          <a:pt x="30888" y="39829"/>
                        </a:cubicBezTo>
                        <a:cubicBezTo>
                          <a:pt x="32514" y="40371"/>
                          <a:pt x="33778" y="41093"/>
                          <a:pt x="34771" y="41996"/>
                        </a:cubicBezTo>
                        <a:cubicBezTo>
                          <a:pt x="35855" y="42990"/>
                          <a:pt x="36307" y="44164"/>
                          <a:pt x="36307" y="45518"/>
                        </a:cubicBezTo>
                        <a:cubicBezTo>
                          <a:pt x="36307" y="47234"/>
                          <a:pt x="35674" y="48499"/>
                          <a:pt x="34229" y="49402"/>
                        </a:cubicBezTo>
                        <a:cubicBezTo>
                          <a:pt x="32875" y="50305"/>
                          <a:pt x="30978" y="50756"/>
                          <a:pt x="28630" y="50756"/>
                        </a:cubicBezTo>
                        <a:cubicBezTo>
                          <a:pt x="25288" y="50756"/>
                          <a:pt x="21495" y="49853"/>
                          <a:pt x="17251" y="48137"/>
                        </a:cubicBezTo>
                        <a:cubicBezTo>
                          <a:pt x="13006" y="46331"/>
                          <a:pt x="9303" y="44073"/>
                          <a:pt x="6232" y="41274"/>
                        </a:cubicBezTo>
                        <a:lnTo>
                          <a:pt x="1" y="53917"/>
                        </a:lnTo>
                        <a:cubicBezTo>
                          <a:pt x="3704" y="56988"/>
                          <a:pt x="8039" y="59517"/>
                          <a:pt x="13096" y="61323"/>
                        </a:cubicBezTo>
                        <a:cubicBezTo>
                          <a:pt x="18244" y="63039"/>
                          <a:pt x="23302" y="63942"/>
                          <a:pt x="28449" y="63942"/>
                        </a:cubicBezTo>
                        <a:cubicBezTo>
                          <a:pt x="33055" y="63942"/>
                          <a:pt x="37300" y="63220"/>
                          <a:pt x="41003" y="61775"/>
                        </a:cubicBezTo>
                        <a:cubicBezTo>
                          <a:pt x="44796" y="60239"/>
                          <a:pt x="47867" y="58072"/>
                          <a:pt x="50034" y="55272"/>
                        </a:cubicBezTo>
                        <a:cubicBezTo>
                          <a:pt x="52202" y="52292"/>
                          <a:pt x="53285" y="48770"/>
                          <a:pt x="53285" y="44706"/>
                        </a:cubicBezTo>
                        <a:cubicBezTo>
                          <a:pt x="53285" y="40551"/>
                          <a:pt x="52292" y="37210"/>
                          <a:pt x="50305" y="34681"/>
                        </a:cubicBezTo>
                        <a:cubicBezTo>
                          <a:pt x="48228" y="32152"/>
                          <a:pt x="45880" y="30256"/>
                          <a:pt x="43080" y="28991"/>
                        </a:cubicBezTo>
                        <a:cubicBezTo>
                          <a:pt x="40280" y="27727"/>
                          <a:pt x="36758" y="26553"/>
                          <a:pt x="32514" y="25288"/>
                        </a:cubicBezTo>
                        <a:cubicBezTo>
                          <a:pt x="29624" y="24385"/>
                          <a:pt x="27456" y="23663"/>
                          <a:pt x="25921" y="23211"/>
                        </a:cubicBezTo>
                        <a:cubicBezTo>
                          <a:pt x="24476" y="22579"/>
                          <a:pt x="23302" y="21856"/>
                          <a:pt x="22218" y="20953"/>
                        </a:cubicBezTo>
                        <a:cubicBezTo>
                          <a:pt x="21224" y="20050"/>
                          <a:pt x="20773" y="18876"/>
                          <a:pt x="20773" y="17521"/>
                        </a:cubicBezTo>
                        <a:cubicBezTo>
                          <a:pt x="20773" y="16167"/>
                          <a:pt x="21315" y="15083"/>
                          <a:pt x="22398" y="14361"/>
                        </a:cubicBezTo>
                        <a:cubicBezTo>
                          <a:pt x="23573" y="13638"/>
                          <a:pt x="25198" y="13186"/>
                          <a:pt x="27185" y="13186"/>
                        </a:cubicBezTo>
                        <a:cubicBezTo>
                          <a:pt x="29714" y="13186"/>
                          <a:pt x="32784" y="13819"/>
                          <a:pt x="36487" y="15083"/>
                        </a:cubicBezTo>
                        <a:cubicBezTo>
                          <a:pt x="40280" y="16347"/>
                          <a:pt x="43803" y="17883"/>
                          <a:pt x="47054" y="19870"/>
                        </a:cubicBezTo>
                        <a:lnTo>
                          <a:pt x="53195" y="6955"/>
                        </a:lnTo>
                        <a:cubicBezTo>
                          <a:pt x="49854" y="4878"/>
                          <a:pt x="46060" y="3162"/>
                          <a:pt x="41725" y="1988"/>
                        </a:cubicBezTo>
                        <a:cubicBezTo>
                          <a:pt x="37390" y="633"/>
                          <a:pt x="32965" y="1"/>
                          <a:pt x="2854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9" name="Google Shape;679;p14"/>
                  <p:cNvSpPr/>
                  <p:nvPr/>
                </p:nvSpPr>
                <p:spPr>
                  <a:xfrm>
                    <a:off x="1714725" y="2063875"/>
                    <a:ext cx="885100" cy="1481150"/>
                  </a:xfrm>
                  <a:custGeom>
                    <a:rect b="b" l="l" r="r" t="t"/>
                    <a:pathLst>
                      <a:path extrusionOk="0" h="59246" w="35404">
                        <a:moveTo>
                          <a:pt x="6593" y="0"/>
                        </a:moveTo>
                        <a:lnTo>
                          <a:pt x="6593" y="13186"/>
                        </a:lnTo>
                        <a:lnTo>
                          <a:pt x="1" y="13186"/>
                        </a:lnTo>
                        <a:lnTo>
                          <a:pt x="1" y="23572"/>
                        </a:lnTo>
                        <a:lnTo>
                          <a:pt x="6593" y="23572"/>
                        </a:lnTo>
                        <a:lnTo>
                          <a:pt x="6593" y="43982"/>
                        </a:lnTo>
                        <a:cubicBezTo>
                          <a:pt x="6593" y="48769"/>
                          <a:pt x="8038" y="52472"/>
                          <a:pt x="10928" y="55181"/>
                        </a:cubicBezTo>
                        <a:cubicBezTo>
                          <a:pt x="13819" y="57890"/>
                          <a:pt x="17612" y="59245"/>
                          <a:pt x="22308" y="59245"/>
                        </a:cubicBezTo>
                        <a:cubicBezTo>
                          <a:pt x="24656" y="59245"/>
                          <a:pt x="27004" y="58974"/>
                          <a:pt x="29262" y="58432"/>
                        </a:cubicBezTo>
                        <a:cubicBezTo>
                          <a:pt x="31610" y="57890"/>
                          <a:pt x="33597" y="57078"/>
                          <a:pt x="35403" y="56084"/>
                        </a:cubicBezTo>
                        <a:lnTo>
                          <a:pt x="32333" y="44976"/>
                        </a:lnTo>
                        <a:cubicBezTo>
                          <a:pt x="29985" y="46060"/>
                          <a:pt x="27998" y="46601"/>
                          <a:pt x="26282" y="46601"/>
                        </a:cubicBezTo>
                        <a:cubicBezTo>
                          <a:pt x="23572" y="46601"/>
                          <a:pt x="22127" y="44885"/>
                          <a:pt x="22127" y="41544"/>
                        </a:cubicBezTo>
                        <a:lnTo>
                          <a:pt x="22127" y="23572"/>
                        </a:lnTo>
                        <a:lnTo>
                          <a:pt x="34500" y="23572"/>
                        </a:lnTo>
                        <a:lnTo>
                          <a:pt x="34500" y="13186"/>
                        </a:lnTo>
                        <a:lnTo>
                          <a:pt x="22127" y="13186"/>
                        </a:lnTo>
                        <a:lnTo>
                          <a:pt x="2212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0" name="Google Shape;680;p14"/>
                  <p:cNvSpPr/>
                  <p:nvPr/>
                </p:nvSpPr>
                <p:spPr>
                  <a:xfrm>
                    <a:off x="2692375" y="2321250"/>
                    <a:ext cx="1151500" cy="1223775"/>
                  </a:xfrm>
                  <a:custGeom>
                    <a:rect b="b" l="l" r="r" t="t"/>
                    <a:pathLst>
                      <a:path extrusionOk="0" h="48951" w="46060">
                        <a:moveTo>
                          <a:pt x="30707" y="27998"/>
                        </a:moveTo>
                        <a:lnTo>
                          <a:pt x="30707" y="32152"/>
                        </a:lnTo>
                        <a:cubicBezTo>
                          <a:pt x="30255" y="33958"/>
                          <a:pt x="29081" y="35494"/>
                          <a:pt x="27365" y="36668"/>
                        </a:cubicBezTo>
                        <a:cubicBezTo>
                          <a:pt x="25559" y="37751"/>
                          <a:pt x="23481" y="38293"/>
                          <a:pt x="21133" y="38293"/>
                        </a:cubicBezTo>
                        <a:cubicBezTo>
                          <a:pt x="19146" y="38293"/>
                          <a:pt x="17611" y="37842"/>
                          <a:pt x="16437" y="36939"/>
                        </a:cubicBezTo>
                        <a:cubicBezTo>
                          <a:pt x="15263" y="35855"/>
                          <a:pt x="14721" y="34590"/>
                          <a:pt x="14721" y="32965"/>
                        </a:cubicBezTo>
                        <a:cubicBezTo>
                          <a:pt x="14721" y="29623"/>
                          <a:pt x="16979" y="27998"/>
                          <a:pt x="21314" y="27998"/>
                        </a:cubicBezTo>
                        <a:close/>
                        <a:moveTo>
                          <a:pt x="25197" y="1"/>
                        </a:moveTo>
                        <a:cubicBezTo>
                          <a:pt x="21404" y="1"/>
                          <a:pt x="17701" y="452"/>
                          <a:pt x="14089" y="1355"/>
                        </a:cubicBezTo>
                        <a:cubicBezTo>
                          <a:pt x="10567" y="2168"/>
                          <a:pt x="6954" y="3433"/>
                          <a:pt x="3071" y="5239"/>
                        </a:cubicBezTo>
                        <a:lnTo>
                          <a:pt x="7315" y="15805"/>
                        </a:lnTo>
                        <a:cubicBezTo>
                          <a:pt x="9844" y="14541"/>
                          <a:pt x="12373" y="13548"/>
                          <a:pt x="14811" y="12915"/>
                        </a:cubicBezTo>
                        <a:cubicBezTo>
                          <a:pt x="17340" y="12283"/>
                          <a:pt x="19598" y="12012"/>
                          <a:pt x="21585" y="12012"/>
                        </a:cubicBezTo>
                        <a:cubicBezTo>
                          <a:pt x="24565" y="12012"/>
                          <a:pt x="26823" y="12554"/>
                          <a:pt x="28268" y="13819"/>
                        </a:cubicBezTo>
                        <a:cubicBezTo>
                          <a:pt x="29894" y="15083"/>
                          <a:pt x="30707" y="16799"/>
                          <a:pt x="30707" y="19147"/>
                        </a:cubicBezTo>
                        <a:lnTo>
                          <a:pt x="30707" y="19599"/>
                        </a:lnTo>
                        <a:lnTo>
                          <a:pt x="18243" y="19599"/>
                        </a:lnTo>
                        <a:cubicBezTo>
                          <a:pt x="12373" y="19689"/>
                          <a:pt x="7857" y="20953"/>
                          <a:pt x="4696" y="23482"/>
                        </a:cubicBezTo>
                        <a:cubicBezTo>
                          <a:pt x="1626" y="26011"/>
                          <a:pt x="0" y="29533"/>
                          <a:pt x="0" y="34049"/>
                        </a:cubicBezTo>
                        <a:cubicBezTo>
                          <a:pt x="0" y="38564"/>
                          <a:pt x="1445" y="42177"/>
                          <a:pt x="4335" y="44886"/>
                        </a:cubicBezTo>
                        <a:cubicBezTo>
                          <a:pt x="7315" y="47595"/>
                          <a:pt x="11289" y="48950"/>
                          <a:pt x="16347" y="48950"/>
                        </a:cubicBezTo>
                        <a:cubicBezTo>
                          <a:pt x="22759" y="48950"/>
                          <a:pt x="27546" y="46963"/>
                          <a:pt x="30707" y="42899"/>
                        </a:cubicBezTo>
                        <a:lnTo>
                          <a:pt x="30707" y="48228"/>
                        </a:lnTo>
                        <a:lnTo>
                          <a:pt x="46060" y="48228"/>
                        </a:lnTo>
                        <a:lnTo>
                          <a:pt x="46060" y="17250"/>
                        </a:lnTo>
                        <a:cubicBezTo>
                          <a:pt x="46060" y="11832"/>
                          <a:pt x="44163" y="7587"/>
                          <a:pt x="40551" y="4607"/>
                        </a:cubicBezTo>
                        <a:cubicBezTo>
                          <a:pt x="36938" y="1536"/>
                          <a:pt x="31790" y="1"/>
                          <a:pt x="25197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1" name="Google Shape;681;p14"/>
                  <p:cNvSpPr/>
                  <p:nvPr/>
                </p:nvSpPr>
                <p:spPr>
                  <a:xfrm>
                    <a:off x="4013200" y="2323525"/>
                    <a:ext cx="1151500" cy="1216975"/>
                  </a:xfrm>
                  <a:custGeom>
                    <a:rect b="b" l="l" r="r" t="t"/>
                    <a:pathLst>
                      <a:path extrusionOk="0" h="48679" w="46060">
                        <a:moveTo>
                          <a:pt x="24656" y="0"/>
                        </a:moveTo>
                        <a:cubicBezTo>
                          <a:pt x="19779" y="0"/>
                          <a:pt x="15444" y="994"/>
                          <a:pt x="11651" y="3071"/>
                        </a:cubicBezTo>
                        <a:cubicBezTo>
                          <a:pt x="7948" y="5058"/>
                          <a:pt x="5058" y="7948"/>
                          <a:pt x="3071" y="11741"/>
                        </a:cubicBezTo>
                        <a:cubicBezTo>
                          <a:pt x="994" y="15444"/>
                          <a:pt x="0" y="19688"/>
                          <a:pt x="0" y="24565"/>
                        </a:cubicBezTo>
                        <a:cubicBezTo>
                          <a:pt x="0" y="29352"/>
                          <a:pt x="994" y="33596"/>
                          <a:pt x="2980" y="37209"/>
                        </a:cubicBezTo>
                        <a:cubicBezTo>
                          <a:pt x="4967" y="40912"/>
                          <a:pt x="7857" y="43711"/>
                          <a:pt x="11560" y="45698"/>
                        </a:cubicBezTo>
                        <a:cubicBezTo>
                          <a:pt x="15263" y="47685"/>
                          <a:pt x="19598" y="48679"/>
                          <a:pt x="24475" y="48679"/>
                        </a:cubicBezTo>
                        <a:cubicBezTo>
                          <a:pt x="29442" y="48679"/>
                          <a:pt x="33868" y="47685"/>
                          <a:pt x="37661" y="45698"/>
                        </a:cubicBezTo>
                        <a:cubicBezTo>
                          <a:pt x="41363" y="43711"/>
                          <a:pt x="44253" y="40912"/>
                          <a:pt x="46060" y="37209"/>
                        </a:cubicBezTo>
                        <a:lnTo>
                          <a:pt x="34590" y="30616"/>
                        </a:lnTo>
                        <a:cubicBezTo>
                          <a:pt x="32693" y="34229"/>
                          <a:pt x="29532" y="36035"/>
                          <a:pt x="25197" y="36035"/>
                        </a:cubicBezTo>
                        <a:cubicBezTo>
                          <a:pt x="22398" y="36035"/>
                          <a:pt x="20140" y="34951"/>
                          <a:pt x="18334" y="32874"/>
                        </a:cubicBezTo>
                        <a:cubicBezTo>
                          <a:pt x="16618" y="30706"/>
                          <a:pt x="15715" y="27907"/>
                          <a:pt x="15715" y="24475"/>
                        </a:cubicBezTo>
                        <a:cubicBezTo>
                          <a:pt x="15715" y="21043"/>
                          <a:pt x="16618" y="18334"/>
                          <a:pt x="18334" y="16166"/>
                        </a:cubicBezTo>
                        <a:cubicBezTo>
                          <a:pt x="20140" y="13999"/>
                          <a:pt x="22398" y="12915"/>
                          <a:pt x="25197" y="12915"/>
                        </a:cubicBezTo>
                        <a:cubicBezTo>
                          <a:pt x="29262" y="12915"/>
                          <a:pt x="32332" y="14631"/>
                          <a:pt x="34590" y="17882"/>
                        </a:cubicBezTo>
                        <a:lnTo>
                          <a:pt x="45879" y="11289"/>
                        </a:lnTo>
                        <a:cubicBezTo>
                          <a:pt x="43892" y="7677"/>
                          <a:pt x="41002" y="4967"/>
                          <a:pt x="37299" y="2980"/>
                        </a:cubicBezTo>
                        <a:cubicBezTo>
                          <a:pt x="33597" y="994"/>
                          <a:pt x="29352" y="0"/>
                          <a:pt x="2465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2" name="Google Shape;682;p14"/>
                  <p:cNvSpPr/>
                  <p:nvPr/>
                </p:nvSpPr>
                <p:spPr>
                  <a:xfrm>
                    <a:off x="5356600" y="1894525"/>
                    <a:ext cx="1226025" cy="1632425"/>
                  </a:xfrm>
                  <a:custGeom>
                    <a:rect b="b" l="l" r="r" t="t"/>
                    <a:pathLst>
                      <a:path extrusionOk="0" h="65297" w="49041">
                        <a:moveTo>
                          <a:pt x="0" y="1"/>
                        </a:moveTo>
                        <a:lnTo>
                          <a:pt x="0" y="65297"/>
                        </a:lnTo>
                        <a:lnTo>
                          <a:pt x="15715" y="65297"/>
                        </a:lnTo>
                        <a:lnTo>
                          <a:pt x="15715" y="52382"/>
                        </a:lnTo>
                        <a:lnTo>
                          <a:pt x="20501" y="47324"/>
                        </a:lnTo>
                        <a:lnTo>
                          <a:pt x="30616" y="65297"/>
                        </a:lnTo>
                        <a:lnTo>
                          <a:pt x="49040" y="65297"/>
                        </a:lnTo>
                        <a:lnTo>
                          <a:pt x="31249" y="36126"/>
                        </a:lnTo>
                        <a:lnTo>
                          <a:pt x="48679" y="17702"/>
                        </a:lnTo>
                        <a:lnTo>
                          <a:pt x="30887" y="17702"/>
                        </a:lnTo>
                        <a:lnTo>
                          <a:pt x="15715" y="33778"/>
                        </a:lnTo>
                        <a:lnTo>
                          <a:pt x="1571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83" name="Google Shape;683;p14"/>
                <p:cNvGrpSpPr/>
                <p:nvPr/>
              </p:nvGrpSpPr>
              <p:grpSpPr>
                <a:xfrm>
                  <a:off x="8166905" y="3947233"/>
                  <a:ext cx="748034" cy="284784"/>
                  <a:chOff x="566350" y="1430350"/>
                  <a:chExt cx="6339275" cy="2413425"/>
                </a:xfrm>
              </p:grpSpPr>
              <p:sp>
                <p:nvSpPr>
                  <p:cNvPr id="684" name="Google Shape;684;p14"/>
                  <p:cNvSpPr/>
                  <p:nvPr/>
                </p:nvSpPr>
                <p:spPr>
                  <a:xfrm>
                    <a:off x="566350" y="1571925"/>
                    <a:ext cx="1248550" cy="2239675"/>
                  </a:xfrm>
                  <a:custGeom>
                    <a:rect b="b" l="l" r="r" t="t"/>
                    <a:pathLst>
                      <a:path extrusionOk="0" h="89587" w="49942">
                        <a:moveTo>
                          <a:pt x="0" y="1"/>
                        </a:moveTo>
                        <a:lnTo>
                          <a:pt x="0" y="89587"/>
                        </a:lnTo>
                        <a:lnTo>
                          <a:pt x="49942" y="89587"/>
                        </a:lnTo>
                        <a:lnTo>
                          <a:pt x="49942" y="80190"/>
                        </a:lnTo>
                        <a:lnTo>
                          <a:pt x="10426" y="80190"/>
                        </a:lnTo>
                        <a:lnTo>
                          <a:pt x="10426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5" name="Google Shape;685;p14"/>
                  <p:cNvSpPr/>
                  <p:nvPr/>
                </p:nvSpPr>
                <p:spPr>
                  <a:xfrm>
                    <a:off x="2030475" y="2106100"/>
                    <a:ext cx="1345125" cy="1737675"/>
                  </a:xfrm>
                  <a:custGeom>
                    <a:rect b="b" l="l" r="r" t="t"/>
                    <a:pathLst>
                      <a:path extrusionOk="0" h="69507" w="53805">
                        <a:moveTo>
                          <a:pt x="43636" y="35268"/>
                        </a:moveTo>
                        <a:lnTo>
                          <a:pt x="43636" y="41318"/>
                        </a:lnTo>
                        <a:cubicBezTo>
                          <a:pt x="43636" y="47496"/>
                          <a:pt x="41834" y="52388"/>
                          <a:pt x="38230" y="55863"/>
                        </a:cubicBezTo>
                        <a:cubicBezTo>
                          <a:pt x="34626" y="59338"/>
                          <a:pt x="29734" y="61140"/>
                          <a:pt x="23299" y="61140"/>
                        </a:cubicBezTo>
                        <a:cubicBezTo>
                          <a:pt x="19308" y="61140"/>
                          <a:pt x="16219" y="60111"/>
                          <a:pt x="14031" y="58180"/>
                        </a:cubicBezTo>
                        <a:cubicBezTo>
                          <a:pt x="11714" y="56249"/>
                          <a:pt x="10684" y="53546"/>
                          <a:pt x="10684" y="49813"/>
                        </a:cubicBezTo>
                        <a:cubicBezTo>
                          <a:pt x="10684" y="45180"/>
                          <a:pt x="12486" y="41704"/>
                          <a:pt x="15962" y="39516"/>
                        </a:cubicBezTo>
                        <a:cubicBezTo>
                          <a:pt x="19566" y="37199"/>
                          <a:pt x="25487" y="35912"/>
                          <a:pt x="33467" y="35655"/>
                        </a:cubicBezTo>
                        <a:lnTo>
                          <a:pt x="43636" y="35268"/>
                        </a:lnTo>
                        <a:close/>
                        <a:moveTo>
                          <a:pt x="30249" y="0"/>
                        </a:moveTo>
                        <a:cubicBezTo>
                          <a:pt x="26259" y="0"/>
                          <a:pt x="22398" y="515"/>
                          <a:pt x="18407" y="1545"/>
                        </a:cubicBezTo>
                        <a:cubicBezTo>
                          <a:pt x="14417" y="2575"/>
                          <a:pt x="10813" y="3991"/>
                          <a:pt x="7595" y="5793"/>
                        </a:cubicBezTo>
                        <a:lnTo>
                          <a:pt x="10684" y="13516"/>
                        </a:lnTo>
                        <a:cubicBezTo>
                          <a:pt x="17764" y="10169"/>
                          <a:pt x="24071" y="8367"/>
                          <a:pt x="29606" y="8367"/>
                        </a:cubicBezTo>
                        <a:cubicBezTo>
                          <a:pt x="34626" y="8367"/>
                          <a:pt x="38230" y="9654"/>
                          <a:pt x="40547" y="12228"/>
                        </a:cubicBezTo>
                        <a:cubicBezTo>
                          <a:pt x="42735" y="14674"/>
                          <a:pt x="43893" y="18535"/>
                          <a:pt x="43893" y="23813"/>
                        </a:cubicBezTo>
                        <a:lnTo>
                          <a:pt x="43893" y="28060"/>
                        </a:lnTo>
                        <a:lnTo>
                          <a:pt x="32566" y="28318"/>
                        </a:lnTo>
                        <a:cubicBezTo>
                          <a:pt x="10813" y="28961"/>
                          <a:pt x="1" y="36170"/>
                          <a:pt x="1" y="49685"/>
                        </a:cubicBezTo>
                        <a:cubicBezTo>
                          <a:pt x="1" y="55992"/>
                          <a:pt x="1932" y="60883"/>
                          <a:pt x="5664" y="64358"/>
                        </a:cubicBezTo>
                        <a:cubicBezTo>
                          <a:pt x="9397" y="67834"/>
                          <a:pt x="14675" y="69507"/>
                          <a:pt x="21368" y="69507"/>
                        </a:cubicBezTo>
                        <a:cubicBezTo>
                          <a:pt x="26259" y="69507"/>
                          <a:pt x="30507" y="68735"/>
                          <a:pt x="33725" y="67319"/>
                        </a:cubicBezTo>
                        <a:cubicBezTo>
                          <a:pt x="37071" y="65774"/>
                          <a:pt x="40418" y="62942"/>
                          <a:pt x="43764" y="58695"/>
                        </a:cubicBezTo>
                        <a:lnTo>
                          <a:pt x="44279" y="58695"/>
                        </a:lnTo>
                        <a:lnTo>
                          <a:pt x="46339" y="68220"/>
                        </a:lnTo>
                        <a:lnTo>
                          <a:pt x="53804" y="68220"/>
                        </a:lnTo>
                        <a:lnTo>
                          <a:pt x="53804" y="22397"/>
                        </a:lnTo>
                        <a:cubicBezTo>
                          <a:pt x="53804" y="14545"/>
                          <a:pt x="51874" y="8882"/>
                          <a:pt x="48012" y="5278"/>
                        </a:cubicBezTo>
                        <a:cubicBezTo>
                          <a:pt x="44151" y="1802"/>
                          <a:pt x="38230" y="0"/>
                          <a:pt x="3024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6" name="Google Shape;686;p14"/>
                  <p:cNvSpPr/>
                  <p:nvPr/>
                </p:nvSpPr>
                <p:spPr>
                  <a:xfrm>
                    <a:off x="3900100" y="1430350"/>
                    <a:ext cx="1480250" cy="2413425"/>
                  </a:xfrm>
                  <a:custGeom>
                    <a:rect b="b" l="l" r="r" t="t"/>
                    <a:pathLst>
                      <a:path extrusionOk="0" h="96537" w="59210">
                        <a:moveTo>
                          <a:pt x="29862" y="35526"/>
                        </a:moveTo>
                        <a:cubicBezTo>
                          <a:pt x="36298" y="35526"/>
                          <a:pt x="40932" y="37714"/>
                          <a:pt x="44021" y="41961"/>
                        </a:cubicBezTo>
                        <a:cubicBezTo>
                          <a:pt x="47110" y="46209"/>
                          <a:pt x="48655" y="52774"/>
                          <a:pt x="48655" y="61526"/>
                        </a:cubicBezTo>
                        <a:cubicBezTo>
                          <a:pt x="48655" y="70021"/>
                          <a:pt x="47110" y="76586"/>
                          <a:pt x="44021" y="81220"/>
                        </a:cubicBezTo>
                        <a:cubicBezTo>
                          <a:pt x="40932" y="85725"/>
                          <a:pt x="36298" y="88042"/>
                          <a:pt x="30120" y="88042"/>
                        </a:cubicBezTo>
                        <a:cubicBezTo>
                          <a:pt x="23169" y="88042"/>
                          <a:pt x="18020" y="85982"/>
                          <a:pt x="14931" y="81992"/>
                        </a:cubicBezTo>
                        <a:cubicBezTo>
                          <a:pt x="11842" y="77873"/>
                          <a:pt x="10169" y="71051"/>
                          <a:pt x="10169" y="61655"/>
                        </a:cubicBezTo>
                        <a:cubicBezTo>
                          <a:pt x="10169" y="52259"/>
                          <a:pt x="11713" y="45565"/>
                          <a:pt x="14802" y="41575"/>
                        </a:cubicBezTo>
                        <a:cubicBezTo>
                          <a:pt x="17892" y="37585"/>
                          <a:pt x="22912" y="35526"/>
                          <a:pt x="29862" y="35526"/>
                        </a:cubicBezTo>
                        <a:close/>
                        <a:moveTo>
                          <a:pt x="0" y="0"/>
                        </a:moveTo>
                        <a:lnTo>
                          <a:pt x="0" y="95250"/>
                        </a:lnTo>
                        <a:lnTo>
                          <a:pt x="7337" y="95250"/>
                        </a:lnTo>
                        <a:lnTo>
                          <a:pt x="9525" y="86626"/>
                        </a:lnTo>
                        <a:lnTo>
                          <a:pt x="10169" y="86626"/>
                        </a:lnTo>
                        <a:cubicBezTo>
                          <a:pt x="12614" y="89972"/>
                          <a:pt x="15703" y="92547"/>
                          <a:pt x="19307" y="94091"/>
                        </a:cubicBezTo>
                        <a:cubicBezTo>
                          <a:pt x="22912" y="95765"/>
                          <a:pt x="26902" y="96537"/>
                          <a:pt x="31278" y="96537"/>
                        </a:cubicBezTo>
                        <a:cubicBezTo>
                          <a:pt x="40031" y="96537"/>
                          <a:pt x="46853" y="93448"/>
                          <a:pt x="51744" y="87398"/>
                        </a:cubicBezTo>
                        <a:cubicBezTo>
                          <a:pt x="56764" y="81220"/>
                          <a:pt x="59210" y="72724"/>
                          <a:pt x="59210" y="61655"/>
                        </a:cubicBezTo>
                        <a:cubicBezTo>
                          <a:pt x="59210" y="50585"/>
                          <a:pt x="56764" y="42090"/>
                          <a:pt x="51873" y="36040"/>
                        </a:cubicBezTo>
                        <a:cubicBezTo>
                          <a:pt x="46981" y="29991"/>
                          <a:pt x="40160" y="27030"/>
                          <a:pt x="31278" y="27030"/>
                        </a:cubicBezTo>
                        <a:cubicBezTo>
                          <a:pt x="22011" y="27030"/>
                          <a:pt x="14931" y="30377"/>
                          <a:pt x="10169" y="37070"/>
                        </a:cubicBezTo>
                        <a:lnTo>
                          <a:pt x="9782" y="37070"/>
                        </a:lnTo>
                        <a:cubicBezTo>
                          <a:pt x="10040" y="32951"/>
                          <a:pt x="10169" y="28318"/>
                          <a:pt x="10169" y="23169"/>
                        </a:cubicBezTo>
                        <a:lnTo>
                          <a:pt x="1016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7" name="Google Shape;687;p14"/>
                  <p:cNvSpPr/>
                  <p:nvPr/>
                </p:nvSpPr>
                <p:spPr>
                  <a:xfrm>
                    <a:off x="5715000" y="2102875"/>
                    <a:ext cx="1190625" cy="1740900"/>
                  </a:xfrm>
                  <a:custGeom>
                    <a:rect b="b" l="l" r="r" t="t"/>
                    <a:pathLst>
                      <a:path extrusionOk="0" h="69636" w="47625">
                        <a:moveTo>
                          <a:pt x="25100" y="1"/>
                        </a:moveTo>
                        <a:cubicBezTo>
                          <a:pt x="17248" y="1"/>
                          <a:pt x="11198" y="1545"/>
                          <a:pt x="6693" y="4763"/>
                        </a:cubicBezTo>
                        <a:cubicBezTo>
                          <a:pt x="2317" y="7981"/>
                          <a:pt x="0" y="12229"/>
                          <a:pt x="0" y="17763"/>
                        </a:cubicBezTo>
                        <a:cubicBezTo>
                          <a:pt x="0" y="20724"/>
                          <a:pt x="644" y="23427"/>
                          <a:pt x="1931" y="25615"/>
                        </a:cubicBezTo>
                        <a:cubicBezTo>
                          <a:pt x="3218" y="27803"/>
                          <a:pt x="5277" y="29863"/>
                          <a:pt x="7852" y="31536"/>
                        </a:cubicBezTo>
                        <a:cubicBezTo>
                          <a:pt x="10555" y="33338"/>
                          <a:pt x="14931" y="35269"/>
                          <a:pt x="21238" y="37586"/>
                        </a:cubicBezTo>
                        <a:cubicBezTo>
                          <a:pt x="27803" y="40160"/>
                          <a:pt x="32179" y="42348"/>
                          <a:pt x="34496" y="44279"/>
                        </a:cubicBezTo>
                        <a:cubicBezTo>
                          <a:pt x="36684" y="46081"/>
                          <a:pt x="37843" y="48269"/>
                          <a:pt x="37843" y="50972"/>
                        </a:cubicBezTo>
                        <a:cubicBezTo>
                          <a:pt x="37843" y="54447"/>
                          <a:pt x="36427" y="57022"/>
                          <a:pt x="33595" y="58695"/>
                        </a:cubicBezTo>
                        <a:cubicBezTo>
                          <a:pt x="30763" y="60368"/>
                          <a:pt x="26644" y="61269"/>
                          <a:pt x="21367" y="61269"/>
                        </a:cubicBezTo>
                        <a:cubicBezTo>
                          <a:pt x="17892" y="61269"/>
                          <a:pt x="14288" y="60755"/>
                          <a:pt x="10555" y="59853"/>
                        </a:cubicBezTo>
                        <a:cubicBezTo>
                          <a:pt x="6951" y="58824"/>
                          <a:pt x="3475" y="57537"/>
                          <a:pt x="257" y="55992"/>
                        </a:cubicBezTo>
                        <a:lnTo>
                          <a:pt x="257" y="65388"/>
                        </a:lnTo>
                        <a:cubicBezTo>
                          <a:pt x="5277" y="68220"/>
                          <a:pt x="12228" y="69636"/>
                          <a:pt x="21109" y="69636"/>
                        </a:cubicBezTo>
                        <a:cubicBezTo>
                          <a:pt x="29476" y="69636"/>
                          <a:pt x="36041" y="67963"/>
                          <a:pt x="40674" y="64487"/>
                        </a:cubicBezTo>
                        <a:cubicBezTo>
                          <a:pt x="45308" y="61141"/>
                          <a:pt x="47625" y="56378"/>
                          <a:pt x="47625" y="50071"/>
                        </a:cubicBezTo>
                        <a:cubicBezTo>
                          <a:pt x="47625" y="45566"/>
                          <a:pt x="46209" y="41962"/>
                          <a:pt x="43506" y="39002"/>
                        </a:cubicBezTo>
                        <a:cubicBezTo>
                          <a:pt x="40674" y="36041"/>
                          <a:pt x="35268" y="33081"/>
                          <a:pt x="27288" y="30249"/>
                        </a:cubicBezTo>
                        <a:cubicBezTo>
                          <a:pt x="21496" y="28061"/>
                          <a:pt x="17634" y="26387"/>
                          <a:pt x="15575" y="25229"/>
                        </a:cubicBezTo>
                        <a:cubicBezTo>
                          <a:pt x="13515" y="24071"/>
                          <a:pt x="11971" y="22912"/>
                          <a:pt x="11070" y="21625"/>
                        </a:cubicBezTo>
                        <a:cubicBezTo>
                          <a:pt x="10169" y="20338"/>
                          <a:pt x="9782" y="18793"/>
                          <a:pt x="9782" y="16991"/>
                        </a:cubicBezTo>
                        <a:cubicBezTo>
                          <a:pt x="9782" y="14417"/>
                          <a:pt x="10941" y="12357"/>
                          <a:pt x="13386" y="10813"/>
                        </a:cubicBezTo>
                        <a:cubicBezTo>
                          <a:pt x="15832" y="9268"/>
                          <a:pt x="19565" y="8496"/>
                          <a:pt x="24327" y="8496"/>
                        </a:cubicBezTo>
                        <a:cubicBezTo>
                          <a:pt x="29862" y="8496"/>
                          <a:pt x="35912" y="9912"/>
                          <a:pt x="42605" y="12744"/>
                        </a:cubicBezTo>
                        <a:lnTo>
                          <a:pt x="46209" y="4377"/>
                        </a:lnTo>
                        <a:cubicBezTo>
                          <a:pt x="39387" y="1417"/>
                          <a:pt x="32308" y="1"/>
                          <a:pt x="2510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1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